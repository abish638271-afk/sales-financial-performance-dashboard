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72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4D367-C346-A1B4-CFE4-5F03BA9F3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E82035-D722-03E3-C69C-9652DDFAF9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EB86F-4A7E-0768-F24E-9982FB097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B5A7E-DBF4-48C9-8351-0AFD6206523A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0A0EB-9E4B-C6C6-1313-98623FAF0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21DC3-43E2-9AD7-DA12-2E47F68EF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0B7F7-A9DA-4385-9C4E-7CE91ED469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3677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781">
        <p159:morph option="byWord"/>
      </p:transition>
    </mc:Choice>
    <mc:Fallback>
      <p:transition spd="slow" advTm="6781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39A1-B6D3-3776-062C-94BC7D750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C7C2C-01AA-7C98-4430-04B2E3263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5D7E8-76F7-6D2A-EFF6-7FB07A3CC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B5A7E-DBF4-48C9-8351-0AFD6206523A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A62FE-B837-8197-641B-3B74D6F61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F40E8-09B0-CC37-FB83-343BCB484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0B7F7-A9DA-4385-9C4E-7CE91ED469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3323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781">
        <p159:morph option="byWord"/>
      </p:transition>
    </mc:Choice>
    <mc:Fallback>
      <p:transition spd="slow" advTm="6781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7BC46-A789-1A64-90A0-E27A1199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633D0-1CF1-DD81-8E9B-A58127CE0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424D8-8248-4B9C-1BCD-42BD7A06F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B5A7E-DBF4-48C9-8351-0AFD6206523A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121B3-5BF4-0CF8-20BD-0301A29F6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9E256-CA4D-C848-6162-2A7FF9B43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0B7F7-A9DA-4385-9C4E-7CE91ED469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9514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781">
        <p159:morph option="byWord"/>
      </p:transition>
    </mc:Choice>
    <mc:Fallback>
      <p:transition spd="slow" advTm="6781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4F14D-31A8-BA40-F3BF-A5CA1B428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D7D4D-1329-B0A0-8D3D-1AC5680178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1ABD24-C334-BDDC-8B43-7E4FD5ADC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DC95D-FF1E-CA94-605D-EC5F9A92F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B5A7E-DBF4-48C9-8351-0AFD6206523A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2BACF-E775-F657-CB0B-AE8C351EF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164E2-68C4-6A5C-7F43-E65F94BCC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0B7F7-A9DA-4385-9C4E-7CE91ED469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0042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781">
        <p159:morph option="byWord"/>
      </p:transition>
    </mc:Choice>
    <mc:Fallback>
      <p:transition spd="slow" advTm="6781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16CF2-5063-14DD-A53E-49C252046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1EFAD-1218-2CC8-85B4-E62F2FB1B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7ADD21-FC0B-C2B0-BA3C-09053A693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2A6DD6-AD3B-AA3D-8731-70C1236B16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76F654-C421-1BA2-C89A-50D8EAE5F8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AD3925-3DC9-69C5-6F27-2E2633B31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B5A7E-DBF4-48C9-8351-0AFD6206523A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40BBFF-7959-EF28-37A0-97EE2FB61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C8520A-AD70-22F3-049A-C7726796C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0B7F7-A9DA-4385-9C4E-7CE91ED469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0932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781">
        <p159:morph option="byWord"/>
      </p:transition>
    </mc:Choice>
    <mc:Fallback>
      <p:transition spd="slow" advTm="6781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E6EAA-FFD8-7075-3C16-B33D3F90F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F2F1C-1DC4-39D6-5EFF-06393C48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B5A7E-DBF4-48C9-8351-0AFD6206523A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8C0AA4-D7DA-F611-EC49-4E366A7BA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CB740C-5D8C-88AE-CBE3-8AE0C57CF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0B7F7-A9DA-4385-9C4E-7CE91ED469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5782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781">
        <p159:morph option="byWord"/>
      </p:transition>
    </mc:Choice>
    <mc:Fallback>
      <p:transition spd="slow" advTm="6781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0C7656-39DB-D399-338F-67B2BA16A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B5A7E-DBF4-48C9-8351-0AFD6206523A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39F7F1-730C-4985-2B96-73229825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747F1-69A0-99E4-95B3-D12108B54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0B7F7-A9DA-4385-9C4E-7CE91ED469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4012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781">
        <p159:morph option="byWord"/>
      </p:transition>
    </mc:Choice>
    <mc:Fallback>
      <p:transition spd="slow" advTm="6781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38BE0-085F-7547-FE6E-76FCBB8E5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2ED8C-2B77-AFB2-D53A-C9C49896A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81D1B8-A368-AAF6-E366-71ABD81E9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E571F6-5BCD-FB17-A38A-1753CDE5B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B5A7E-DBF4-48C9-8351-0AFD6206523A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79188-C436-3969-4F95-C4D2512B1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85BFA-CB94-D4CC-EA51-7411405F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0B7F7-A9DA-4385-9C4E-7CE91ED469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4056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781">
        <p159:morph option="byWord"/>
      </p:transition>
    </mc:Choice>
    <mc:Fallback>
      <p:transition spd="slow" advTm="6781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2FDA9-04EF-54B1-0091-0C81ADFFB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1D07CD-1EBE-C39D-DA3B-05F4C27F0BA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1D95A-28B8-5A68-3316-29D0F62A8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26967D-8B27-AE9C-70F1-FA04C83F0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B5A7E-DBF4-48C9-8351-0AFD6206523A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75EB9-57CE-32FE-F7C9-18E488C47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00CCC-15EA-2CFF-87BD-EB3FA775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0B7F7-A9DA-4385-9C4E-7CE91ED469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9710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781">
        <p159:morph option="byWord"/>
      </p:transition>
    </mc:Choice>
    <mc:Fallback>
      <p:transition spd="slow" advTm="6781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30E38-32D5-1975-5D3C-A5AC38FB8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F470CF-59F1-8A0E-9EA9-392F2377E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BF339-7F6D-17FD-E5DD-61AE22283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B5A7E-DBF4-48C9-8351-0AFD6206523A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E169C-1279-4CFE-3EC5-9EC392186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E9721-AEB2-F0E4-0CA7-E0314717D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0B7F7-A9DA-4385-9C4E-7CE91ED469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4353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781">
        <p159:morph option="byWord"/>
      </p:transition>
    </mc:Choice>
    <mc:Fallback>
      <p:transition spd="slow" advTm="6781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783A8D-DB9D-BACA-F9B8-89BE58B3BA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208ACB-3B66-C471-49FE-9C9B289775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4C428-E7E4-E5FB-E533-A654526BE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B5A7E-DBF4-48C9-8351-0AFD6206523A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70D7B-0111-3C83-18A9-8A62906DF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58835-5E87-4244-261E-F20953435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0B7F7-A9DA-4385-9C4E-7CE91ED469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3456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781">
        <p159:morph option="byWord"/>
      </p:transition>
    </mc:Choice>
    <mc:Fallback>
      <p:transition spd="slow" advTm="6781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AFF8E7-758C-4207-7B75-B241DDAD3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D0768-2FFC-FE26-94D7-E57577127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2C7BA-8D9A-B147-C52E-DEBCB9134F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3B5A7E-DBF4-48C9-8351-0AFD6206523A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94009-5759-207F-8B2F-6F7FE2895E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BEA02-1CD9-8BFA-8DD3-4D707E3FD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0B7F7-A9DA-4385-9C4E-7CE91ED469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478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781">
        <p159:morph option="byWord"/>
      </p:transition>
    </mc:Choice>
    <mc:Fallback>
      <p:transition spd="slow" advTm="6781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4C415-73AB-6CBA-277E-37A1BFE97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11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dirty="0"/>
              <a:t>SALES &amp; FINANCIAL PERFORMANCE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F0001E-4084-1F98-DEFF-4CFA283A74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03637"/>
            <a:ext cx="9144000" cy="1676400"/>
          </a:xfrm>
        </p:spPr>
        <p:txBody>
          <a:bodyPr/>
          <a:lstStyle/>
          <a:p>
            <a:r>
              <a:rPr lang="en-IN" b="1" dirty="0"/>
              <a:t>Data Analyst Internship – Task 4</a:t>
            </a:r>
            <a:endParaRPr lang="en-IN" dirty="0"/>
          </a:p>
          <a:p>
            <a:r>
              <a:rPr lang="en-IN" b="1" dirty="0"/>
              <a:t>Interactive Business Dashboard using Power BI</a:t>
            </a:r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70D61C-A505-387B-36A8-91FBDB1BFB36}"/>
              </a:ext>
            </a:extLst>
          </p:cNvPr>
          <p:cNvSpPr txBox="1"/>
          <p:nvPr/>
        </p:nvSpPr>
        <p:spPr>
          <a:xfrm>
            <a:off x="8094132" y="5800506"/>
            <a:ext cx="4199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Dataset:</a:t>
            </a:r>
            <a:r>
              <a:rPr lang="en-IN" dirty="0"/>
              <a:t> Financial Sales Dataset</a:t>
            </a:r>
            <a:br>
              <a:rPr lang="en-IN" dirty="0"/>
            </a:br>
            <a:r>
              <a:rPr lang="en-IN" b="1" dirty="0"/>
              <a:t>Tool:</a:t>
            </a:r>
            <a:r>
              <a:rPr lang="en-IN" dirty="0"/>
              <a:t> Microsoft Power BI</a:t>
            </a:r>
          </a:p>
        </p:txBody>
      </p:sp>
    </p:spTree>
    <p:extLst>
      <p:ext uri="{BB962C8B-B14F-4D97-AF65-F5344CB8AC3E}">
        <p14:creationId xmlns:p14="http://schemas.microsoft.com/office/powerpoint/2010/main" val="7829356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781">
        <p159:morph option="byWord"/>
      </p:transition>
    </mc:Choice>
    <mc:Fallback>
      <p:transition spd="slow" advTm="6781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EB66D9-369E-8155-00AC-CFC155CA3938}"/>
              </a:ext>
            </a:extLst>
          </p:cNvPr>
          <p:cNvSpPr txBox="1"/>
          <p:nvPr/>
        </p:nvSpPr>
        <p:spPr>
          <a:xfrm>
            <a:off x="537453" y="482061"/>
            <a:ext cx="6094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OBJECTIVE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3F5764-96A7-9A23-BF32-93F70C9EFE0F}"/>
              </a:ext>
            </a:extLst>
          </p:cNvPr>
          <p:cNvSpPr txBox="1"/>
          <p:nvPr/>
        </p:nvSpPr>
        <p:spPr>
          <a:xfrm>
            <a:off x="1828802" y="961754"/>
            <a:ext cx="9358008" cy="4934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300000"/>
              </a:lnSpc>
              <a:buFont typeface="+mj-lt"/>
              <a:buAutoNum type="arabicPeriod"/>
            </a:pPr>
            <a:r>
              <a:rPr lang="en-IN" dirty="0"/>
              <a:t>Design an interactive dashboard for business stakeholders. </a:t>
            </a:r>
          </a:p>
          <a:p>
            <a:pPr marL="342900" lvl="0" indent="-342900">
              <a:lnSpc>
                <a:spcPct val="300000"/>
              </a:lnSpc>
              <a:buFont typeface="+mj-lt"/>
              <a:buAutoNum type="arabicPeriod"/>
            </a:pPr>
            <a:r>
              <a:rPr lang="en-IN" dirty="0"/>
              <a:t>Monitor sales and profit performance. </a:t>
            </a:r>
          </a:p>
          <a:p>
            <a:pPr marL="342900" lvl="0" indent="-342900">
              <a:lnSpc>
                <a:spcPct val="300000"/>
              </a:lnSpc>
              <a:buFont typeface="+mj-lt"/>
              <a:buAutoNum type="arabicPeriod"/>
            </a:pPr>
            <a:r>
              <a:rPr lang="en-IN" dirty="0" err="1"/>
              <a:t>Analyze</a:t>
            </a:r>
            <a:r>
              <a:rPr lang="en-IN" dirty="0"/>
              <a:t> sales trends over time. </a:t>
            </a:r>
          </a:p>
          <a:p>
            <a:pPr marL="342900" lvl="0" indent="-342900">
              <a:lnSpc>
                <a:spcPct val="300000"/>
              </a:lnSpc>
              <a:buFont typeface="+mj-lt"/>
              <a:buAutoNum type="arabicPeriod"/>
            </a:pPr>
            <a:r>
              <a:rPr lang="en-IN" dirty="0"/>
              <a:t>Compare regional performance. </a:t>
            </a:r>
          </a:p>
          <a:p>
            <a:pPr marL="342900" lvl="0" indent="-342900">
              <a:lnSpc>
                <a:spcPct val="300000"/>
              </a:lnSpc>
              <a:buFont typeface="+mj-lt"/>
              <a:buAutoNum type="arabicPeriod"/>
            </a:pPr>
            <a:r>
              <a:rPr lang="en-IN" dirty="0" err="1"/>
              <a:t>Analyze</a:t>
            </a:r>
            <a:r>
              <a:rPr lang="en-IN" dirty="0"/>
              <a:t> customer segments and top products. </a:t>
            </a:r>
          </a:p>
          <a:p>
            <a:pPr marL="342900" lvl="0" indent="-342900">
              <a:lnSpc>
                <a:spcPct val="300000"/>
              </a:lnSpc>
              <a:buFont typeface="+mj-lt"/>
              <a:buAutoNum type="arabicPeriod"/>
            </a:pPr>
            <a:r>
              <a:rPr lang="en-IN" dirty="0"/>
              <a:t>Enable interactive analysis using slicers and filters.</a:t>
            </a:r>
          </a:p>
        </p:txBody>
      </p:sp>
    </p:spTree>
    <p:extLst>
      <p:ext uri="{BB962C8B-B14F-4D97-AF65-F5344CB8AC3E}">
        <p14:creationId xmlns:p14="http://schemas.microsoft.com/office/powerpoint/2010/main" val="35868052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781">
        <p159:morph option="byWord"/>
      </p:transition>
    </mc:Choice>
    <mc:Fallback>
      <p:transition spd="slow" advTm="6781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BE026-2388-9FDF-A4E3-53C014C8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286" y="462334"/>
            <a:ext cx="4131047" cy="823912"/>
          </a:xfrm>
        </p:spPr>
        <p:txBody>
          <a:bodyPr/>
          <a:lstStyle/>
          <a:p>
            <a:pPr algn="ctr"/>
            <a:r>
              <a:rPr lang="en-IN" dirty="0"/>
              <a:t>DATASET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B0FDB1-12D8-1364-1EF4-3EA4550ED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0620" y="1668495"/>
            <a:ext cx="5157787" cy="3684587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3400" b="1" dirty="0"/>
              <a:t>Dataset contains:</a:t>
            </a:r>
            <a:endParaRPr lang="en-IN" sz="3400" dirty="0"/>
          </a:p>
          <a:p>
            <a:pPr lvl="0"/>
            <a:r>
              <a:rPr lang="en-IN" sz="2900" dirty="0"/>
              <a:t>Date </a:t>
            </a:r>
          </a:p>
          <a:p>
            <a:pPr lvl="0"/>
            <a:r>
              <a:rPr lang="en-IN" sz="2900" dirty="0"/>
              <a:t>Region </a:t>
            </a:r>
          </a:p>
          <a:p>
            <a:pPr lvl="0"/>
            <a:r>
              <a:rPr lang="en-IN" sz="2900" dirty="0"/>
              <a:t>Country </a:t>
            </a:r>
          </a:p>
          <a:p>
            <a:pPr lvl="0"/>
            <a:r>
              <a:rPr lang="en-IN" sz="2900" dirty="0"/>
              <a:t>Product Name </a:t>
            </a:r>
          </a:p>
          <a:p>
            <a:pPr lvl="0"/>
            <a:r>
              <a:rPr lang="en-IN" sz="2900" dirty="0"/>
              <a:t>Company Names </a:t>
            </a:r>
          </a:p>
          <a:p>
            <a:pPr lvl="0"/>
            <a:r>
              <a:rPr lang="en-IN" sz="2900" dirty="0"/>
              <a:t>Units Sold </a:t>
            </a:r>
          </a:p>
          <a:p>
            <a:pPr lvl="0"/>
            <a:r>
              <a:rPr lang="en-IN" sz="2900" dirty="0"/>
              <a:t>Unit Price </a:t>
            </a:r>
          </a:p>
          <a:p>
            <a:pPr lvl="0"/>
            <a:r>
              <a:rPr lang="en-IN" sz="2900" dirty="0"/>
              <a:t>Total Sales </a:t>
            </a:r>
          </a:p>
          <a:p>
            <a:pPr lvl="0"/>
            <a:r>
              <a:rPr lang="en-IN" sz="2900" dirty="0"/>
              <a:t>Cost of Goods Sold </a:t>
            </a:r>
          </a:p>
          <a:p>
            <a:pPr lvl="0"/>
            <a:r>
              <a:rPr lang="en-IN" sz="2900" dirty="0"/>
              <a:t>Profit </a:t>
            </a:r>
          </a:p>
          <a:p>
            <a:pPr lvl="0"/>
            <a:r>
              <a:rPr lang="en-IN" sz="2900" dirty="0"/>
              <a:t>Discount </a:t>
            </a:r>
          </a:p>
          <a:p>
            <a:pPr lvl="0"/>
            <a:r>
              <a:rPr lang="en-IN" sz="2900" dirty="0"/>
              <a:t>Customer Segment</a:t>
            </a:r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89611B-0D51-BC4B-26B1-0FAEE74A9E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94036" y="462334"/>
            <a:ext cx="5183188" cy="823912"/>
          </a:xfrm>
        </p:spPr>
        <p:txBody>
          <a:bodyPr/>
          <a:lstStyle/>
          <a:p>
            <a:pPr algn="ctr"/>
            <a:r>
              <a:rPr lang="en-IN" dirty="0"/>
              <a:t>TOOLS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46189B3-0725-749D-DB73-7761074324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1416" y="1668494"/>
            <a:ext cx="5488491" cy="368458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3400" b="1" dirty="0"/>
              <a:t>Tools Used:</a:t>
            </a:r>
            <a:endParaRPr lang="en-IN" sz="3400" dirty="0"/>
          </a:p>
          <a:p>
            <a:pPr lvl="0">
              <a:lnSpc>
                <a:spcPct val="220000"/>
              </a:lnSpc>
            </a:pPr>
            <a:r>
              <a:rPr lang="en-IN" sz="2900" b="1" dirty="0"/>
              <a:t>Microsoft Power BI</a:t>
            </a:r>
            <a:r>
              <a:rPr lang="en-IN" sz="2900" dirty="0"/>
              <a:t> — Dashboard development and visualization </a:t>
            </a:r>
          </a:p>
          <a:p>
            <a:pPr lvl="0">
              <a:lnSpc>
                <a:spcPct val="220000"/>
              </a:lnSpc>
            </a:pPr>
            <a:r>
              <a:rPr lang="en-IN" sz="2900" b="1" dirty="0"/>
              <a:t>Microsoft Excel</a:t>
            </a:r>
            <a:r>
              <a:rPr lang="en-IN" sz="2900" dirty="0"/>
              <a:t> — Dataset source </a:t>
            </a:r>
          </a:p>
          <a:p>
            <a:pPr lvl="0">
              <a:lnSpc>
                <a:spcPct val="220000"/>
              </a:lnSpc>
            </a:pPr>
            <a:r>
              <a:rPr lang="en-IN" sz="2900" b="1" dirty="0"/>
              <a:t>PowerPoint</a:t>
            </a:r>
            <a:r>
              <a:rPr lang="en-IN" sz="2900" dirty="0"/>
              <a:t> — Project presentation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64558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781">
        <p159:morph option="byWord"/>
      </p:transition>
    </mc:Choice>
    <mc:Fallback>
      <p:transition spd="slow" advTm="6781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4C547A-013C-D7D3-907C-773CF1CA51CE}"/>
              </a:ext>
            </a:extLst>
          </p:cNvPr>
          <p:cNvSpPr txBox="1"/>
          <p:nvPr/>
        </p:nvSpPr>
        <p:spPr>
          <a:xfrm>
            <a:off x="564204" y="661481"/>
            <a:ext cx="23830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KPI 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9FD280-98FD-F121-50AE-DC8A2B72ED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453931"/>
              </p:ext>
            </p:extLst>
          </p:nvPr>
        </p:nvGraphicFramePr>
        <p:xfrm>
          <a:off x="838200" y="1472102"/>
          <a:ext cx="10515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40630643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282914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KPI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5792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Total 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264.07M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2335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Total Profit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99.36M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7687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Total Units Sold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5M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9942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Total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164.71M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3155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EBC53F4-7CD4-97E3-1095-42DC27852641}"/>
              </a:ext>
            </a:extLst>
          </p:cNvPr>
          <p:cNvSpPr txBox="1"/>
          <p:nvPr/>
        </p:nvSpPr>
        <p:spPr>
          <a:xfrm>
            <a:off x="1527027" y="4259441"/>
            <a:ext cx="945528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Total Sales</a:t>
            </a:r>
            <a:r>
              <a:rPr lang="en-IN" dirty="0"/>
              <a:t> – Measures overall revenue generated.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Total Profit</a:t>
            </a:r>
            <a:r>
              <a:rPr lang="en-IN" dirty="0"/>
              <a:t> – Shows the financial profit generated.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Total Units Sold</a:t>
            </a:r>
            <a:r>
              <a:rPr lang="en-IN" dirty="0"/>
              <a:t> – Represents the volume of products sold.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Total Cost</a:t>
            </a:r>
            <a:r>
              <a:rPr lang="en-IN" dirty="0"/>
              <a:t> – Shows the total cost associated with sales.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B90865-F560-6CAB-390C-306A4B7BF383}"/>
              </a:ext>
            </a:extLst>
          </p:cNvPr>
          <p:cNvSpPr txBox="1"/>
          <p:nvPr/>
        </p:nvSpPr>
        <p:spPr>
          <a:xfrm>
            <a:off x="564204" y="3599234"/>
            <a:ext cx="49611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KPI Purpose</a:t>
            </a:r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494213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781">
        <p159:morph option="byWord"/>
      </p:transition>
    </mc:Choice>
    <mc:Fallback>
      <p:transition spd="slow" advTm="6781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C4E180-27E4-70AE-5AF9-8B19CA0B8ADD}"/>
              </a:ext>
            </a:extLst>
          </p:cNvPr>
          <p:cNvSpPr txBox="1"/>
          <p:nvPr/>
        </p:nvSpPr>
        <p:spPr>
          <a:xfrm>
            <a:off x="379379" y="107003"/>
            <a:ext cx="45412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INTERACTIVE 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88A5E-9675-E84D-C3A2-63322A172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379" y="630223"/>
            <a:ext cx="10822527" cy="4379522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BB484435-F450-A7D4-49C4-E26AFCFAFC88}"/>
              </a:ext>
            </a:extLst>
          </p:cNvPr>
          <p:cNvSpPr txBox="1">
            <a:spLocks/>
          </p:cNvSpPr>
          <p:nvPr/>
        </p:nvSpPr>
        <p:spPr>
          <a:xfrm>
            <a:off x="379379" y="5211952"/>
            <a:ext cx="10515600" cy="32101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/>
              <a:t>KPI Cards</a:t>
            </a:r>
            <a:r>
              <a:rPr lang="en-IN" sz="2400" dirty="0"/>
              <a:t> </a:t>
            </a:r>
            <a:br>
              <a:rPr lang="en-IN" sz="2400" dirty="0"/>
            </a:br>
            <a:endParaRPr lang="en-IN" sz="2400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D6EAA91-544A-F20F-1ABA-55C55E201143}"/>
              </a:ext>
            </a:extLst>
          </p:cNvPr>
          <p:cNvSpPr txBox="1">
            <a:spLocks/>
          </p:cNvSpPr>
          <p:nvPr/>
        </p:nvSpPr>
        <p:spPr>
          <a:xfrm>
            <a:off x="438050" y="5647394"/>
            <a:ext cx="2401110" cy="116076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1800" dirty="0"/>
              <a:t>Monthly Sales Trend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1800" dirty="0"/>
              <a:t>Sales by Region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1800" dirty="0"/>
              <a:t>Profit by Region </a:t>
            </a:r>
          </a:p>
          <a:p>
            <a:endParaRPr lang="en-IN" sz="1800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FC3C2EAE-2A6D-BDD6-29E4-EE65F41C1DAC}"/>
              </a:ext>
            </a:extLst>
          </p:cNvPr>
          <p:cNvSpPr txBox="1">
            <a:spLocks/>
          </p:cNvSpPr>
          <p:nvPr/>
        </p:nvSpPr>
        <p:spPr>
          <a:xfrm>
            <a:off x="3057365" y="5647394"/>
            <a:ext cx="3726514" cy="116076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1800" dirty="0"/>
              <a:t>Sales by Customer Segment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1800" dirty="0"/>
              <a:t>Top 10 Products by Sales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1800" dirty="0"/>
              <a:t>Interactive Slicers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9130198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781">
        <p159:morph option="byWord"/>
      </p:transition>
    </mc:Choice>
    <mc:Fallback>
      <p:transition spd="slow" advTm="678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7C8526-535D-1096-3432-E56AD4E63243}"/>
              </a:ext>
            </a:extLst>
          </p:cNvPr>
          <p:cNvSpPr txBox="1"/>
          <p:nvPr/>
        </p:nvSpPr>
        <p:spPr>
          <a:xfrm>
            <a:off x="204281" y="252919"/>
            <a:ext cx="56764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SALES &amp; PROFIT TREND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788CDC-3D21-4483-5EF2-7F133E625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76" y="900802"/>
            <a:ext cx="10956492" cy="16186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3D8225-0706-4576-552B-F31EC3A98DE3}"/>
              </a:ext>
            </a:extLst>
          </p:cNvPr>
          <p:cNvSpPr txBox="1"/>
          <p:nvPr/>
        </p:nvSpPr>
        <p:spPr>
          <a:xfrm>
            <a:off x="356776" y="2644127"/>
            <a:ext cx="9883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The monthly sales trend provides a time-based view of sales performance. It helps identify changes in sales over different periods and supports monitoring of overall business performance.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8C3250-1972-367B-5A9F-E3C2EBCF40B8}"/>
              </a:ext>
            </a:extLst>
          </p:cNvPr>
          <p:cNvSpPr txBox="1"/>
          <p:nvPr/>
        </p:nvSpPr>
        <p:spPr>
          <a:xfrm>
            <a:off x="356776" y="3629099"/>
            <a:ext cx="19332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Key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7B3A83-407B-8FA1-C937-FBD50EC9B5F7}"/>
              </a:ext>
            </a:extLst>
          </p:cNvPr>
          <p:cNvSpPr txBox="1"/>
          <p:nvPr/>
        </p:nvSpPr>
        <p:spPr>
          <a:xfrm>
            <a:off x="1099225" y="4141316"/>
            <a:ext cx="6533007" cy="2488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Monthly sales performance can be monitored.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Higher and lower sales periods can be identified.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The trend helps stakeholders understand sales movement over time.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The dashboard can be filtered using the </a:t>
            </a:r>
            <a:r>
              <a:rPr lang="en-IN" sz="1600" b="1" dirty="0"/>
              <a:t>Date slicer</a:t>
            </a:r>
            <a:r>
              <a:rPr lang="en-IN" sz="1600" dirty="0"/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0542020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781">
        <p159:morph option="byWord"/>
      </p:transition>
    </mc:Choice>
    <mc:Fallback>
      <p:transition spd="slow" advTm="6781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6CE0FF-DD70-F884-FA84-DDEE5AC3001E}"/>
              </a:ext>
            </a:extLst>
          </p:cNvPr>
          <p:cNvSpPr txBox="1"/>
          <p:nvPr/>
        </p:nvSpPr>
        <p:spPr>
          <a:xfrm>
            <a:off x="2850205" y="280585"/>
            <a:ext cx="58536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REGIONAL &amp; CUSTOMER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1C6C3E-29FA-A2A1-8072-5BE8ACE295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192" y="903156"/>
            <a:ext cx="5131936" cy="17412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BEF9E8-52FE-327F-26C7-598F85757F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128" y="903156"/>
            <a:ext cx="5632315" cy="17412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36750B-D8F9-2574-1306-BA6C99F826D0}"/>
              </a:ext>
            </a:extLst>
          </p:cNvPr>
          <p:cNvSpPr txBox="1"/>
          <p:nvPr/>
        </p:nvSpPr>
        <p:spPr>
          <a:xfrm>
            <a:off x="223735" y="2696233"/>
            <a:ext cx="9396919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Regional Analysis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Compares sales performance across different regions.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Helps identify regions contributing to overall sales.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Profit by region provides an additional view of regional financial performance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80491E-8C6E-6FA5-4506-9F65DFA64F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03" y="4300738"/>
            <a:ext cx="4458086" cy="24005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3D098D5-D5F3-2C42-BDAD-7FF837002D2E}"/>
              </a:ext>
            </a:extLst>
          </p:cNvPr>
          <p:cNvSpPr txBox="1"/>
          <p:nvPr/>
        </p:nvSpPr>
        <p:spPr>
          <a:xfrm>
            <a:off x="5075405" y="4808494"/>
            <a:ext cx="647376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Customer Segment Analysis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Shows how total sales are distributed across customer segments.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Helps stakeholders understand which segments contribute to sales.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3696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781">
        <p159:morph option="byWord"/>
      </p:transition>
    </mc:Choice>
    <mc:Fallback>
      <p:transition spd="slow" advTm="6781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9649B4-3968-C96F-5969-1695FDA90845}"/>
              </a:ext>
            </a:extLst>
          </p:cNvPr>
          <p:cNvSpPr txBox="1"/>
          <p:nvPr/>
        </p:nvSpPr>
        <p:spPr>
          <a:xfrm>
            <a:off x="2324221" y="116731"/>
            <a:ext cx="66695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800" b="1" dirty="0"/>
              <a:t>TOP PRODUCTS &amp; INTERACTIVE FILTERS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83B8C-7C06-4D8C-6EF3-A6BF9BD17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19" y="639951"/>
            <a:ext cx="6669582" cy="25684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811F69-CE54-6E2F-71B7-B53E5CF6C534}"/>
              </a:ext>
            </a:extLst>
          </p:cNvPr>
          <p:cNvSpPr txBox="1"/>
          <p:nvPr/>
        </p:nvSpPr>
        <p:spPr>
          <a:xfrm>
            <a:off x="7286019" y="972422"/>
            <a:ext cx="4046706" cy="190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/>
              <a:t>The Top 10 Products analysis identifies the products contributing the highest sales. Interactive slicers allow users to filter the analysis based on region, customer segment, and date.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D523E8-845F-E83A-F6E6-97784A80CCFC}"/>
              </a:ext>
            </a:extLst>
          </p:cNvPr>
          <p:cNvSpPr txBox="1"/>
          <p:nvPr/>
        </p:nvSpPr>
        <p:spPr>
          <a:xfrm>
            <a:off x="515566" y="3591208"/>
            <a:ext cx="5331203" cy="19913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Product Analysis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Identifies the highest-selling products.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Helps compare product-level sales performance.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Supports better understanding of product contribution.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A929D6-A99F-5E62-9C1C-F147ACE74AEF}"/>
              </a:ext>
            </a:extLst>
          </p:cNvPr>
          <p:cNvSpPr txBox="1"/>
          <p:nvPr/>
        </p:nvSpPr>
        <p:spPr>
          <a:xfrm>
            <a:off x="6517532" y="3649574"/>
            <a:ext cx="3696511" cy="1991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Interactive Filters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Region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Customer Segment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Date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90636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781">
        <p159:morph option="byWord"/>
      </p:transition>
    </mc:Choice>
    <mc:Fallback>
      <p:transition spd="slow" advTm="6781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D625B3-900F-8404-F267-585E549AAB22}"/>
              </a:ext>
            </a:extLst>
          </p:cNvPr>
          <p:cNvSpPr txBox="1"/>
          <p:nvPr/>
        </p:nvSpPr>
        <p:spPr>
          <a:xfrm>
            <a:off x="223736" y="330740"/>
            <a:ext cx="2058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A3173F-B370-AEE2-9C86-56869EFAD8F7}"/>
              </a:ext>
            </a:extLst>
          </p:cNvPr>
          <p:cNvSpPr txBox="1"/>
          <p:nvPr/>
        </p:nvSpPr>
        <p:spPr>
          <a:xfrm>
            <a:off x="680936" y="943583"/>
            <a:ext cx="10204315" cy="1298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The Sales &amp; Financial Performance Dashboard provides an interactive view of business performance using Power BI. It combines key financial KPIs, time-series analysis, regional performance, customer segmentation, product analysis, and interactive filters to support data-driven decision-making.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F2DF03-7ABB-4138-7252-6145714607F1}"/>
              </a:ext>
            </a:extLst>
          </p:cNvPr>
          <p:cNvSpPr txBox="1"/>
          <p:nvPr/>
        </p:nvSpPr>
        <p:spPr>
          <a:xfrm>
            <a:off x="223736" y="2441643"/>
            <a:ext cx="26148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Key Takeaways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8710E2-9E2D-E15A-5B7D-DB1E29A703F9}"/>
              </a:ext>
            </a:extLst>
          </p:cNvPr>
          <p:cNvSpPr txBox="1"/>
          <p:nvPr/>
        </p:nvSpPr>
        <p:spPr>
          <a:xfrm>
            <a:off x="680936" y="3135098"/>
            <a:ext cx="9824936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dirty="0"/>
              <a:t> Sales and profit performance can be monitored using KPI cards.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Monthly trends help </a:t>
            </a:r>
            <a:r>
              <a:rPr lang="en-IN" dirty="0" err="1"/>
              <a:t>analyze</a:t>
            </a:r>
            <a:r>
              <a:rPr lang="en-IN" dirty="0"/>
              <a:t> sales performance over time.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Regional analysis helps compare sales and profitability.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Customer segmentation provides insights into customer contributions.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Top 10 product analysis highlights high-performing products.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Slicers allow users to interactively filter the dashboard.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33D6F6-30EE-2272-E79B-DFD68E2A148B}"/>
              </a:ext>
            </a:extLst>
          </p:cNvPr>
          <p:cNvSpPr txBox="1"/>
          <p:nvPr/>
        </p:nvSpPr>
        <p:spPr>
          <a:xfrm>
            <a:off x="2821651" y="5914417"/>
            <a:ext cx="65277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“Turning sales data into actionable business insights.”</a:t>
            </a:r>
          </a:p>
        </p:txBody>
      </p:sp>
    </p:spTree>
    <p:extLst>
      <p:ext uri="{BB962C8B-B14F-4D97-AF65-F5344CB8AC3E}">
        <p14:creationId xmlns:p14="http://schemas.microsoft.com/office/powerpoint/2010/main" val="34353687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781">
        <p159:morph option="byWord"/>
      </p:transition>
    </mc:Choice>
    <mc:Fallback>
      <p:transition spd="slow" advTm="6781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495</Words>
  <Application>Microsoft Office PowerPoint</Application>
  <PresentationFormat>Widescreen</PresentationFormat>
  <Paragraphs>89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SALES &amp; FINANCIAL PERFORMANCE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abishek abish</dc:creator>
  <cp:lastModifiedBy>abishek abish</cp:lastModifiedBy>
  <cp:revision>1</cp:revision>
  <dcterms:created xsi:type="dcterms:W3CDTF">2026-10-07T12:37:39Z</dcterms:created>
  <dcterms:modified xsi:type="dcterms:W3CDTF">2026-10-07T13:37:40Z</dcterms:modified>
</cp:coreProperties>
</file>